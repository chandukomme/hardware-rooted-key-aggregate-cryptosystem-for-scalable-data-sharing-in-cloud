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0FC2EE-F5E8-4BBB-A622-6ED8E7F602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393284-D754-4829-9D78-9ABFC29554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D1C3C20-8CFE-4C57-AC7B-A102EB1522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6124FCA-06F2-4A05-A389-7B1C8EDEDA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3330272-1E1B-4A4F-9890-4CC0E0DA26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D6F04FB-8861-48A2-A9E0-F2F4EB7603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8C70402-7AD9-4C0E-8C54-93A02B0513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BC35FB4-E66B-4FAF-8D94-28C31B64F7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7DD4E46-314B-4F1F-959E-5DEE725841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92A1A14-02DB-4C3E-BB50-797C7E4E19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CB2B866-44E0-4B95-9B33-F9B0526661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CC0906E-DA36-4B88-B1FA-79EAAC4DFD4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A560E4D-3135-47CC-BC1F-F59DCD62B1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06213D-B3CF-40E4-A15F-14389E83AC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0E1F162-597D-43AB-B8C9-4EBEC0D810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E9741F0-56B5-44FE-9DB5-50672B0C06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F3D0871-0B12-4B78-BD83-C6644FECA25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60C2C41-DC4D-4C7E-89BA-BF489C99FB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43B7E98-2412-4EF9-A633-998E0FCB70E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216C3AC-BB0E-4E6D-B5E6-3CE17DFBEBF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25C556C-C6B9-465F-A73B-D5E292409D4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C1463D1-E854-41FD-BCF0-0F90338DFC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1" descr="bg_gra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51" name="Rounded Rectangle 2"/>
          <p:cNvSpPr/>
          <p:nvPr/>
        </p:nvSpPr>
        <p:spPr>
          <a:xfrm>
            <a:off x="914400" y="1600200"/>
            <a:ext cx="7771320" cy="2970720"/>
          </a:xfrm>
          <a:prstGeom prst="roundRect">
            <a:avLst>
              <a:gd name="adj" fmla="val 16667"/>
            </a:avLst>
          </a:prstGeom>
          <a:solidFill>
            <a:srgbClr val="00c6ff"/>
          </a:solidFill>
          <a:ln>
            <a:solidFill>
              <a:srgbClr val="0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Hardware-rooted KAC for scalable data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sharing in cloud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3821040" y="5213160"/>
            <a:ext cx="1893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bf5"/>
                </a:solidFill>
                <a:latin typeface="Calibri"/>
              </a:rPr>
              <a:t>Chandu komme-319570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" descr="bg_gra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54" name="Rounded Rectangle 2"/>
          <p:cNvSpPr/>
          <p:nvPr/>
        </p:nvSpPr>
        <p:spPr>
          <a:xfrm>
            <a:off x="914400" y="366120"/>
            <a:ext cx="7314120" cy="775800"/>
          </a:xfrm>
          <a:prstGeom prst="roundRect">
            <a:avLst>
              <a:gd name="adj" fmla="val 16667"/>
            </a:avLst>
          </a:prstGeom>
          <a:solidFill>
            <a:srgbClr val="00c6ff"/>
          </a:solidFill>
          <a:ln>
            <a:solidFill>
              <a:srgbClr val="0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Problem &amp; Approach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Rounded Rectangle 3"/>
          <p:cNvSpPr/>
          <p:nvPr/>
        </p:nvSpPr>
        <p:spPr>
          <a:xfrm>
            <a:off x="183240" y="2057400"/>
            <a:ext cx="4159080" cy="274212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3466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c6ff"/>
                </a:solidFill>
                <a:latin typeface="Calibri"/>
              </a:rPr>
              <a:t>The Problem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Keys and files get copied; we lose control of where decryption happens.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Per-file key management and rotation are heavy on edge devices.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Cloud should remain plaintext-blind with a small attack surface.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Rounded Rectangle 4"/>
          <p:cNvSpPr/>
          <p:nvPr/>
        </p:nvSpPr>
        <p:spPr>
          <a:xfrm>
            <a:off x="4572000" y="1828800"/>
            <a:ext cx="4342320" cy="411372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3466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c6ff"/>
                </a:solidFill>
                <a:latin typeface="Calibri"/>
              </a:rPr>
              <a:t>My Approach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Key–Aggregate Cryptosystem: one key authorizes a subset of classes.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AES-GCM per file (fresh key + nonce; integrity tag).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RFID presence gate; OLED status; optional ATECC608A liveness.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Minimal Flask cloud stores ciphertext + compact header only.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Box 5"/>
          <p:cNvSpPr/>
          <p:nvPr/>
        </p:nvSpPr>
        <p:spPr>
          <a:xfrm>
            <a:off x="3464640" y="6217920"/>
            <a:ext cx="49561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3" descr="bg_gra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59" name="Rounded Rectangle 5"/>
          <p:cNvSpPr/>
          <p:nvPr/>
        </p:nvSpPr>
        <p:spPr>
          <a:xfrm>
            <a:off x="914400" y="366120"/>
            <a:ext cx="7359480" cy="1461600"/>
          </a:xfrm>
          <a:prstGeom prst="roundRect">
            <a:avLst>
              <a:gd name="adj" fmla="val 16667"/>
            </a:avLst>
          </a:prstGeom>
          <a:solidFill>
            <a:srgbClr val="00c6ff"/>
          </a:solidFill>
          <a:ln>
            <a:solidFill>
              <a:srgbClr val="0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Encryption Flow (on the Pi)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Box 6"/>
          <p:cNvSpPr/>
          <p:nvPr/>
        </p:nvSpPr>
        <p:spPr>
          <a:xfrm>
            <a:off x="3464640" y="6217920"/>
            <a:ext cx="49561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1078560" y="2057400"/>
            <a:ext cx="6922440" cy="389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1" descr="bg_gra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63" name="Rounded Rectangle 2"/>
          <p:cNvSpPr/>
          <p:nvPr/>
        </p:nvSpPr>
        <p:spPr>
          <a:xfrm>
            <a:off x="914400" y="366120"/>
            <a:ext cx="7359480" cy="1461600"/>
          </a:xfrm>
          <a:prstGeom prst="roundRect">
            <a:avLst>
              <a:gd name="adj" fmla="val 16667"/>
            </a:avLst>
          </a:prstGeom>
          <a:solidFill>
            <a:srgbClr val="00c6ff"/>
          </a:solidFill>
          <a:ln>
            <a:solidFill>
              <a:srgbClr val="0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Encryption Flow (on the Pi)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ounded Rectangle 3"/>
          <p:cNvSpPr/>
          <p:nvPr/>
        </p:nvSpPr>
        <p:spPr>
          <a:xfrm>
            <a:off x="1600200" y="2286000"/>
            <a:ext cx="6171120" cy="347328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3466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c6ff"/>
                </a:solidFill>
                <a:latin typeface="Calibri"/>
              </a:rPr>
              <a:t>Steps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Generate fresh 256-bit key and 96-bit nonce.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AES-GCM ⇒ ciphertext + tag; compute SHA-256 digests for audit.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KAC-wrap the file key for the chosen class.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Upload ciphertext + header {class, nonce, tag, wrap, digests, env?}.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Cloud stores bytes only; no plaintext and no long-term keys.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3464640" y="6217920"/>
            <a:ext cx="49561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1" descr="bg_gra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67" name="Rounded Rectangle 2"/>
          <p:cNvSpPr/>
          <p:nvPr/>
        </p:nvSpPr>
        <p:spPr>
          <a:xfrm>
            <a:off x="914400" y="594720"/>
            <a:ext cx="7085520" cy="775800"/>
          </a:xfrm>
          <a:prstGeom prst="roundRect">
            <a:avLst>
              <a:gd name="adj" fmla="val 16667"/>
            </a:avLst>
          </a:prstGeom>
          <a:solidFill>
            <a:srgbClr val="00c6ff"/>
          </a:solidFill>
          <a:ln>
            <a:solidFill>
              <a:srgbClr val="0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Decryption Flow (on the Pi)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3464640" y="6217920"/>
            <a:ext cx="49561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2"/>
          <a:stretch/>
        </p:blipFill>
        <p:spPr>
          <a:xfrm>
            <a:off x="914400" y="1828800"/>
            <a:ext cx="7067160" cy="397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4" descr="bg_gra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71" name="Rounded Rectangle 6"/>
          <p:cNvSpPr/>
          <p:nvPr/>
        </p:nvSpPr>
        <p:spPr>
          <a:xfrm>
            <a:off x="914400" y="594720"/>
            <a:ext cx="7085520" cy="775800"/>
          </a:xfrm>
          <a:prstGeom prst="roundRect">
            <a:avLst>
              <a:gd name="adj" fmla="val 16667"/>
            </a:avLst>
          </a:prstGeom>
          <a:solidFill>
            <a:srgbClr val="00c6ff"/>
          </a:solidFill>
          <a:ln>
            <a:solidFill>
              <a:srgbClr val="0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Decryption Flow (on the Pi)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ounded Rectangle 7"/>
          <p:cNvSpPr/>
          <p:nvPr/>
        </p:nvSpPr>
        <p:spPr>
          <a:xfrm>
            <a:off x="869040" y="1783440"/>
            <a:ext cx="7130880" cy="347328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3466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c6ff"/>
                </a:solidFill>
                <a:latin typeface="Calibri"/>
              </a:rPr>
              <a:t>Steps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OLED shows Ready; user taps enrolled RFID card.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Download ciphertext + header from the cloud.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Check class via aggregate key; unwrap the file key (KAC).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Verify GCM tag; on success write plaintext and display text on OLED.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On denial or tamper: no plaintext; clear device feedback.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3464640" y="6217920"/>
            <a:ext cx="49561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1" descr="bg_gra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75" name="Rounded Rectangle 2"/>
          <p:cNvSpPr/>
          <p:nvPr/>
        </p:nvSpPr>
        <p:spPr>
          <a:xfrm>
            <a:off x="1600200" y="594720"/>
            <a:ext cx="6628320" cy="775800"/>
          </a:xfrm>
          <a:prstGeom prst="roundRect">
            <a:avLst>
              <a:gd name="adj" fmla="val 16667"/>
            </a:avLst>
          </a:prstGeom>
          <a:solidFill>
            <a:srgbClr val="00c6ff"/>
          </a:solidFill>
          <a:ln>
            <a:solidFill>
              <a:srgbClr val="0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Compact Header Design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ounded Rectangle 3"/>
          <p:cNvSpPr/>
          <p:nvPr/>
        </p:nvSpPr>
        <p:spPr>
          <a:xfrm>
            <a:off x="1600200" y="2012040"/>
            <a:ext cx="6856920" cy="347328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3466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c6ff"/>
                </a:solidFill>
                <a:latin typeface="Calibri"/>
              </a:rPr>
              <a:t>Header Fields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class, nonce, tag, wrap, digests, optional environment snapshot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Bind class/kid as AEAD Associated Data (AAD) to detect header tampering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3464640" y="6217920"/>
            <a:ext cx="49561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 descr="bg_gra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79" name="Rounded Rectangle 2"/>
          <p:cNvSpPr/>
          <p:nvPr/>
        </p:nvSpPr>
        <p:spPr>
          <a:xfrm>
            <a:off x="183240" y="457200"/>
            <a:ext cx="8731080" cy="1004400"/>
          </a:xfrm>
          <a:prstGeom prst="roundRect">
            <a:avLst>
              <a:gd name="adj" fmla="val 16667"/>
            </a:avLst>
          </a:prstGeom>
          <a:solidFill>
            <a:srgbClr val="00c6ff"/>
          </a:solidFill>
          <a:ln>
            <a:solidFill>
              <a:srgbClr val="0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Hardware on Raspberry Pi 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Rounded Rectangle 3"/>
          <p:cNvSpPr/>
          <p:nvPr/>
        </p:nvSpPr>
        <p:spPr>
          <a:xfrm>
            <a:off x="1143000" y="2057400"/>
            <a:ext cx="6856920" cy="347328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3466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c6ff"/>
                </a:solidFill>
                <a:latin typeface="Calibri"/>
              </a:rPr>
              <a:t>Peripherals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MFRC522 (SPI) — RFID presence gate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SSD1306 OLED (I²C 0x3C) — status &amp; text viewer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ATECC608A (I²C 0x60) — challenge signatures (liveness)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BME280 (I²C 0x76/0x77) — environment snapshot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3464640" y="6217920"/>
            <a:ext cx="49561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1" descr="bg_gra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83" name="Rounded Rectangle 2"/>
          <p:cNvSpPr/>
          <p:nvPr/>
        </p:nvSpPr>
        <p:spPr>
          <a:xfrm>
            <a:off x="914400" y="2743200"/>
            <a:ext cx="7130880" cy="547200"/>
          </a:xfrm>
          <a:prstGeom prst="roundRect">
            <a:avLst>
              <a:gd name="adj" fmla="val 16667"/>
            </a:avLst>
          </a:prstGeom>
          <a:solidFill>
            <a:srgbClr val="00c6ff"/>
          </a:solidFill>
          <a:ln>
            <a:solidFill>
              <a:srgbClr val="0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Live Demo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3464640" y="6217920"/>
            <a:ext cx="49561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" descr="bg_gra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86" name="Rounded Rectangle 2"/>
          <p:cNvSpPr/>
          <p:nvPr/>
        </p:nvSpPr>
        <p:spPr>
          <a:xfrm>
            <a:off x="686160" y="2286000"/>
            <a:ext cx="7771320" cy="1004400"/>
          </a:xfrm>
          <a:prstGeom prst="roundRect">
            <a:avLst>
              <a:gd name="adj" fmla="val 16667"/>
            </a:avLst>
          </a:prstGeom>
          <a:solidFill>
            <a:srgbClr val="00c6ff"/>
          </a:solidFill>
          <a:ln>
            <a:solidFill>
              <a:srgbClr val="0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Member (Encrypt)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2145600" y="5669280"/>
            <a:ext cx="75942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3464640" y="6217920"/>
            <a:ext cx="49561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2" descr="bg_gra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90" name="Rounded Rectangle 1"/>
          <p:cNvSpPr/>
          <p:nvPr/>
        </p:nvSpPr>
        <p:spPr>
          <a:xfrm>
            <a:off x="1371600" y="2514600"/>
            <a:ext cx="6399720" cy="1141920"/>
          </a:xfrm>
          <a:prstGeom prst="roundRect">
            <a:avLst>
              <a:gd name="adj" fmla="val 16667"/>
            </a:avLst>
          </a:prstGeom>
          <a:solidFill>
            <a:srgbClr val="00c6ff"/>
          </a:solidFill>
          <a:ln>
            <a:solidFill>
              <a:srgbClr val="0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Member (Decrypt)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1"/>
          <p:cNvSpPr/>
          <p:nvPr/>
        </p:nvSpPr>
        <p:spPr>
          <a:xfrm>
            <a:off x="2743200" y="5669280"/>
            <a:ext cx="63993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3464640" y="6217920"/>
            <a:ext cx="49561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1" descr="bg_grad.png"/>
          <p:cNvPicPr/>
          <p:nvPr/>
        </p:nvPicPr>
        <p:blipFill>
          <a:blip r:embed="rId1"/>
          <a:stretch/>
        </p:blipFill>
        <p:spPr>
          <a:xfrm>
            <a:off x="0" y="0"/>
            <a:ext cx="9142560" cy="6856560"/>
          </a:xfrm>
          <a:prstGeom prst="rect">
            <a:avLst/>
          </a:prstGeom>
          <a:ln w="0">
            <a:noFill/>
          </a:ln>
        </p:spPr>
      </p:pic>
      <p:sp>
        <p:nvSpPr>
          <p:cNvPr id="94" name="Rounded Rectangle 2"/>
          <p:cNvSpPr/>
          <p:nvPr/>
        </p:nvSpPr>
        <p:spPr>
          <a:xfrm>
            <a:off x="1371600" y="228600"/>
            <a:ext cx="7085520" cy="913320"/>
          </a:xfrm>
          <a:prstGeom prst="roundRect">
            <a:avLst>
              <a:gd name="adj" fmla="val 16667"/>
            </a:avLst>
          </a:prstGeom>
          <a:solidFill>
            <a:srgbClr val="00c6ff"/>
          </a:solidFill>
          <a:ln>
            <a:solidFill>
              <a:srgbClr val="00c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Results &amp; Security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ounded Rectangle 3"/>
          <p:cNvSpPr/>
          <p:nvPr/>
        </p:nvSpPr>
        <p:spPr>
          <a:xfrm>
            <a:off x="457200" y="2012040"/>
            <a:ext cx="3885120" cy="347328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3466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c6ff"/>
                </a:solidFill>
                <a:latin typeface="Calibri"/>
              </a:rPr>
              <a:t>Results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Interactive tap‑to‑decrypt latency on local network.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Clear OLED feedback: Ready / Granted / Denied / Integrity Failure.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Cloud remains plaintext‑blind; tiny auditable footprint.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Policy changes via single‑key rotation; no mass re‑encryption.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ounded Rectangle 4"/>
          <p:cNvSpPr/>
          <p:nvPr/>
        </p:nvSpPr>
        <p:spPr>
          <a:xfrm>
            <a:off x="4572000" y="2012040"/>
            <a:ext cx="4204440" cy="347328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3466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c6ff"/>
                </a:solidFill>
                <a:latin typeface="Calibri"/>
              </a:rPr>
              <a:t>Security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Confidentiality: plaintext stays on device; fresh AES‑GCM per file.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Integrity: tags cover ciphertext + policy context (AAD).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Authorization: RFID presence + KAC class membership.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dcebf5"/>
                </a:solidFill>
                <a:latin typeface="Calibri"/>
              </a:rPr>
              <a:t>ATECC608A liveness (server‑verified challenge signatures).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3464640" y="6217920"/>
            <a:ext cx="4956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cebf5"/>
                </a:solidFill>
                <a:latin typeface="Calibri"/>
              </a:rPr>
              <a:t>Hardware-Rooted KAC on Raspberry Pi • Plaintext stays at the edge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c3d2"/>
                </a:solidFill>
                <a:latin typeface="Calibri"/>
              </a:rPr>
              <a:t>Secure-by-design at the edge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2026-01-16T10:01:38Z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